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 Bold" panose="020B0604020202020204" charset="0"/>
      <p:regular r:id="rId11"/>
    </p:embeddedFont>
    <p:embeddedFont>
      <p:font typeface="Calibri (MS) Bold" panose="020B0604020202020204" charset="0"/>
      <p:regular r:id="rId12"/>
    </p:embeddedFont>
    <p:embeddedFont>
      <p:font typeface="Garamond Bold" panose="02020804030307010803" pitchFamily="18" charset="0"/>
      <p:regular r:id="rId13"/>
      <p:bold r:id="rId14"/>
    </p:embeddedFont>
    <p:embeddedFont>
      <p:font typeface="Times New Roman Bold" panose="02020803070505020304" pitchFamily="18" charset="0"/>
      <p:regular r:id="rId15"/>
      <p:bold r:id="rId16"/>
    </p:embeddedFont>
    <p:embeddedFont>
      <p:font typeface="Times New Roman Bold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4622" autoAdjust="0"/>
  </p:normalViewPr>
  <p:slideViewPr>
    <p:cSldViewPr>
      <p:cViewPr>
        <p:scale>
          <a:sx n="50" d="100"/>
          <a:sy n="50" d="100"/>
        </p:scale>
        <p:origin x="828" y="-2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edgeimpulse.com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ai.google.dev/edge/litert/microcontroller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espressif.com/projects/esp-idf/en/stable/esp32s3/api-reference/peripherals/i2s.html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8369" y="2258797"/>
            <a:ext cx="17699631" cy="766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 dirty="0"/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 26172</a:t>
            </a:r>
          </a:p>
          <a:p>
            <a:pPr marL="561022" lvl="1" indent="-280511" algn="l">
              <a:lnSpc>
                <a:spcPts val="7439"/>
              </a:lnSpc>
              <a:buFont typeface="Arial"/>
              <a:buChar char="•"/>
            </a:pPr>
            <a:r>
              <a:rPr lang="en-US" sz="30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Low Latency and </a:t>
            </a:r>
          </a:p>
          <a:p>
            <a:pPr algn="l">
              <a:lnSpc>
                <a:spcPts val="7439"/>
              </a:lnSpc>
            </a:pPr>
            <a:r>
              <a:rPr lang="en-US" sz="30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Efficient Voice Activator for Edge Devices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Smart Automation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Hardware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- TRINETRA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75612" y="-326679"/>
            <a:ext cx="16459200" cy="1704536"/>
            <a:chOff x="0" y="0"/>
            <a:chExt cx="21945600" cy="2272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72715"/>
            </a:xfrm>
            <a:custGeom>
              <a:avLst/>
              <a:gdLst/>
              <a:ahLst/>
              <a:cxnLst/>
              <a:rect l="l" t="t" r="r" b="b"/>
              <a:pathLst>
                <a:path w="21945600" h="2272715">
                  <a:moveTo>
                    <a:pt x="0" y="0"/>
                  </a:moveTo>
                  <a:lnTo>
                    <a:pt x="21945600" y="0"/>
                  </a:lnTo>
                  <a:lnTo>
                    <a:pt x="21945600" y="2272715"/>
                  </a:lnTo>
                  <a:lnTo>
                    <a:pt x="0" y="22727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857" b="-13844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01290"/>
            </a:xfrm>
            <a:prstGeom prst="rect">
              <a:avLst/>
            </a:prstGeom>
          </p:spPr>
          <p:txBody>
            <a:bodyPr lIns="177800" tIns="177800" rIns="177800" bIns="17780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3360"/>
                </a:lnSpc>
              </a:pPr>
              <a:r>
                <a:rPr lang="en-US" sz="2800" b="1" i="1" spc="53">
                  <a:solidFill>
                    <a:srgbClr val="000000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TRINETRA – Adaptive Edge Intelligence for Low-Latency Voice Activation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" y="1695450"/>
            <a:ext cx="18105120" cy="648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680" lvl="1" indent="-434340" algn="l">
              <a:lnSpc>
                <a:spcPts val="5759"/>
              </a:lnSpc>
              <a:buFont typeface="Arial"/>
              <a:buChar char="•"/>
            </a:pPr>
            <a:r>
              <a:rPr lang="en-US" sz="48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marL="760095" lvl="1" indent="-380048" algn="l">
              <a:lnSpc>
                <a:spcPts val="5040"/>
              </a:lnSpc>
            </a:pPr>
            <a:endParaRPr lang="en-US" sz="4800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760095" lvl="1" indent="-380048" algn="l">
              <a:lnSpc>
                <a:spcPts val="5040"/>
              </a:lnSpc>
            </a:pPr>
            <a:endParaRPr lang="en-US" sz="4800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5040"/>
              </a:lnSpc>
            </a:pPr>
            <a:endParaRPr lang="en-US" sz="4800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5040"/>
              </a:lnSpc>
            </a:pPr>
            <a:endParaRPr lang="en-US" sz="4800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5040"/>
              </a:lnSpc>
            </a:pPr>
            <a:endParaRPr lang="en-US" sz="4800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5040"/>
              </a:lnSpc>
            </a:pPr>
            <a:endParaRPr lang="en-US" sz="4800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5040"/>
              </a:lnSpc>
            </a:pPr>
            <a:endParaRPr lang="en-US" sz="4800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5040"/>
              </a:lnSpc>
            </a:pPr>
            <a:endParaRPr lang="en-US" sz="4800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5040"/>
              </a:lnSpc>
            </a:pPr>
            <a:endParaRPr lang="en-US" sz="4800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2" name="Freeform 12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TRINETRA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2932263" y="4082272"/>
            <a:ext cx="5243525" cy="3476596"/>
          </a:xfrm>
          <a:custGeom>
            <a:avLst/>
            <a:gdLst/>
            <a:ahLst/>
            <a:cxnLst/>
            <a:rect l="l" t="t" r="r" b="b"/>
            <a:pathLst>
              <a:path w="5243525" h="3476596">
                <a:moveTo>
                  <a:pt x="0" y="0"/>
                </a:moveTo>
                <a:lnTo>
                  <a:pt x="5243525" y="0"/>
                </a:lnTo>
                <a:lnTo>
                  <a:pt x="5243525" y="3476596"/>
                </a:lnTo>
                <a:lnTo>
                  <a:pt x="0" y="34765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4" b="-274"/>
            </a:stretch>
          </a:blipFill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BBCF2C5-10A9-D756-1326-4965D71CAE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12" y="2618277"/>
            <a:ext cx="12613188" cy="67162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TRINETRA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0422644" y="5661433"/>
            <a:ext cx="7696201" cy="3829209"/>
          </a:xfrm>
          <a:custGeom>
            <a:avLst/>
            <a:gdLst/>
            <a:ahLst/>
            <a:cxnLst/>
            <a:rect l="l" t="t" r="r" b="b"/>
            <a:pathLst>
              <a:path w="9010758" h="3829209">
                <a:moveTo>
                  <a:pt x="0" y="0"/>
                </a:moveTo>
                <a:lnTo>
                  <a:pt x="9010758" y="0"/>
                </a:lnTo>
                <a:lnTo>
                  <a:pt x="9010758" y="3829208"/>
                </a:lnTo>
                <a:lnTo>
                  <a:pt x="0" y="3829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513" r="-1478" b="-11885"/>
            </a:stretch>
          </a:blipFill>
        </p:spPr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0E174CF-061E-D253-9838-F62814EAB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1" y="1383051"/>
            <a:ext cx="6443488" cy="4114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664BFB-EC98-FEB7-10E8-8336A0E07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194" y="1815548"/>
            <a:ext cx="10151365" cy="7137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11430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TRINETRA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2179C91-33C3-1ACC-D516-6E5199421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99" y="1790700"/>
            <a:ext cx="11658601" cy="76733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60E4DE-0284-9237-8084-D893E2764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70589" y="1785257"/>
            <a:ext cx="5652571" cy="74999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12" y="126622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TRINETRA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A324ED2-D780-C519-EF8B-8B857F134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1" y="1944065"/>
            <a:ext cx="16687799" cy="8071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TRINETRA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559078" y="1810734"/>
            <a:ext cx="4859462" cy="4859462"/>
          </a:xfrm>
          <a:custGeom>
            <a:avLst/>
            <a:gdLst/>
            <a:ahLst/>
            <a:cxnLst/>
            <a:rect l="l" t="t" r="r" b="b"/>
            <a:pathLst>
              <a:path w="4859462" h="4859462">
                <a:moveTo>
                  <a:pt x="0" y="0"/>
                </a:moveTo>
                <a:lnTo>
                  <a:pt x="4859461" y="0"/>
                </a:lnTo>
                <a:lnTo>
                  <a:pt x="4859461" y="4859462"/>
                </a:lnTo>
                <a:lnTo>
                  <a:pt x="0" y="4859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-2558820" y="6651146"/>
            <a:ext cx="1023798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u="sng">
                <a:solidFill>
                  <a:srgbClr val="1A77E4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6" tooltip="https://docs.espressif.com/projects/esp-idf/en/stable/esp32s3/api-reference/peripherals/i2s.html"/>
              </a:rPr>
              <a:t>ESP32-S3 I2S Documentation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1294933" y="7222646"/>
            <a:ext cx="811374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u="sng">
                <a:solidFill>
                  <a:srgbClr val="1A77E4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7" tooltip="https://ai.google.dev/edge/litert/microcontrollers"/>
              </a:rPr>
              <a:t>TensorFlow Lite for Microcontrollers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-1418826" y="7794146"/>
            <a:ext cx="795799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u="sng">
                <a:solidFill>
                  <a:srgbClr val="1A77E4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8" tooltip="https://docs.edgeimpulse.com"/>
              </a:rPr>
              <a:t>Edge Impulse Documentation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63309" y="1624013"/>
            <a:ext cx="874357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Comparision with Existing System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E2F0F6-20DE-15C3-B82C-438EF60D62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7400" y="2309470"/>
            <a:ext cx="11861522" cy="7005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112</Words>
  <Application>Microsoft Office PowerPoint</Application>
  <PresentationFormat>Custom</PresentationFormat>
  <Paragraphs>54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Times New Roman Bold Italics</vt:lpstr>
      <vt:lpstr>Arial</vt:lpstr>
      <vt:lpstr>Times New Roman Bold</vt:lpstr>
      <vt:lpstr>Garamond Bold</vt:lpstr>
      <vt:lpstr>Calibri</vt:lpstr>
      <vt:lpstr>Arial Bold</vt:lpstr>
      <vt:lpstr>Calibri (MS) Bold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dc:creator>HRITHIK TADEPALLI</dc:creator>
  <cp:lastModifiedBy>HRITHIK TADEPALLI</cp:lastModifiedBy>
  <cp:revision>4</cp:revision>
  <dcterms:created xsi:type="dcterms:W3CDTF">2006-08-16T00:00:00Z</dcterms:created>
  <dcterms:modified xsi:type="dcterms:W3CDTF">2026-09-02T13:44:30Z</dcterms:modified>
  <dc:identifier>DAHT3KMTOcw</dc:identifier>
</cp:coreProperties>
</file>